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13" y="1500188"/>
            <a:ext cx="2143125" cy="21431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800475" y="1853105"/>
            <a:ext cx="4772025" cy="5657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731" b="1" spc="-2" kern="0" dirty="0">
                <a:solidFill>
                  <a:srgbClr val="1A1A1A"/>
                </a:solidFill>
              </a:rPr>
              <a:t>InnovateCorp</a:t>
            </a:r>
            <a:endParaRPr lang="en-US" sz="3731" dirty="0"/>
          </a:p>
        </p:txBody>
      </p:sp>
      <p:sp>
        <p:nvSpPr>
          <p:cNvPr id="5" name="Text 1"/>
          <p:cNvSpPr/>
          <p:nvPr/>
        </p:nvSpPr>
        <p:spPr>
          <a:xfrm>
            <a:off x="3800475" y="2561760"/>
            <a:ext cx="4772025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A Strategic Presentation</a:t>
            </a:r>
            <a:endParaRPr lang="en-US" sz="1269" dirty="0"/>
          </a:p>
        </p:txBody>
      </p:sp>
      <p:sp>
        <p:nvSpPr>
          <p:cNvPr id="6" name="Text 2"/>
          <p:cNvSpPr/>
          <p:nvPr/>
        </p:nvSpPr>
        <p:spPr>
          <a:xfrm>
            <a:off x="3800475" y="3121819"/>
            <a:ext cx="28575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Transforming business through innovation and strategic excellence</a:t>
            </a:r>
            <a:endParaRPr lang="en-US" sz="83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742950"/>
            <a:ext cx="7715250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spc="-1" kern="0" dirty="0">
                <a:solidFill>
                  <a:srgbClr val="1A1A1A"/>
                </a:solidFill>
              </a:rPr>
              <a:t>Agenda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714375" y="1394817"/>
            <a:ext cx="77152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Today's presentation outline</a:t>
            </a:r>
            <a:endParaRPr lang="en-US" sz="942" dirty="0"/>
          </a:p>
        </p:txBody>
      </p:sp>
      <p:sp>
        <p:nvSpPr>
          <p:cNvPr id="5" name="Text 2"/>
          <p:cNvSpPr/>
          <p:nvPr/>
        </p:nvSpPr>
        <p:spPr>
          <a:xfrm>
            <a:off x="714375" y="1998464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FF3B30"/>
                </a:solidFill>
              </a:rPr>
              <a:t>01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1143000" y="1998464"/>
            <a:ext cx="903098" cy="211438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Company Profile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4786313" y="1998464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FF3B30"/>
                </a:solidFill>
              </a:rPr>
              <a:t>02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5214938" y="1998464"/>
            <a:ext cx="932231" cy="211438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Market Overview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714375" y="2512814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FF3B30"/>
                </a:solidFill>
              </a:rPr>
              <a:t>03</a:t>
            </a:r>
            <a:endParaRPr lang="en-US" sz="1602" dirty="0"/>
          </a:p>
        </p:txBody>
      </p:sp>
      <p:sp>
        <p:nvSpPr>
          <p:cNvPr id="10" name="Text 7"/>
          <p:cNvSpPr/>
          <p:nvPr/>
        </p:nvSpPr>
        <p:spPr>
          <a:xfrm>
            <a:off x="1143000" y="2512814"/>
            <a:ext cx="1072260" cy="211438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Products &amp; Services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4786313" y="2512814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FF3B30"/>
                </a:solidFill>
              </a:rPr>
              <a:t>04</a:t>
            </a:r>
            <a:endParaRPr lang="en-US" sz="1602" dirty="0"/>
          </a:p>
        </p:txBody>
      </p:sp>
      <p:sp>
        <p:nvSpPr>
          <p:cNvPr id="12" name="Text 9"/>
          <p:cNvSpPr/>
          <p:nvPr/>
        </p:nvSpPr>
        <p:spPr>
          <a:xfrm>
            <a:off x="5214938" y="2512814"/>
            <a:ext cx="969959" cy="211438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Business Strategy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714375" y="3027164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FF3B30"/>
                </a:solidFill>
              </a:rPr>
              <a:t>05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1143000" y="3027164"/>
            <a:ext cx="1124722" cy="211438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Financial Projections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4786313" y="3027164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FF3B30"/>
                </a:solidFill>
              </a:rPr>
              <a:t>06</a:t>
            </a:r>
            <a:endParaRPr lang="en-US" sz="1602" dirty="0"/>
          </a:p>
        </p:txBody>
      </p:sp>
      <p:sp>
        <p:nvSpPr>
          <p:cNvPr id="16" name="Text 13"/>
          <p:cNvSpPr/>
          <p:nvPr/>
        </p:nvSpPr>
        <p:spPr>
          <a:xfrm>
            <a:off x="5214938" y="3027164"/>
            <a:ext cx="931897" cy="211438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Leadership Team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714375" y="3541514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FF3B30"/>
                </a:solidFill>
              </a:rPr>
              <a:t>07</a:t>
            </a:r>
            <a:endParaRPr lang="en-US" sz="1602" dirty="0"/>
          </a:p>
        </p:txBody>
      </p:sp>
      <p:sp>
        <p:nvSpPr>
          <p:cNvPr id="18" name="Text 15"/>
          <p:cNvSpPr/>
          <p:nvPr/>
        </p:nvSpPr>
        <p:spPr>
          <a:xfrm>
            <a:off x="1143000" y="3541514"/>
            <a:ext cx="1038774" cy="211438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Strategic Roadmap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4786313" y="3541514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FF3B30"/>
                </a:solidFill>
              </a:rPr>
              <a:t>08</a:t>
            </a:r>
            <a:endParaRPr lang="en-US" sz="1602" dirty="0"/>
          </a:p>
        </p:txBody>
      </p:sp>
      <p:sp>
        <p:nvSpPr>
          <p:cNvPr id="20" name="Text 17"/>
          <p:cNvSpPr/>
          <p:nvPr/>
        </p:nvSpPr>
        <p:spPr>
          <a:xfrm>
            <a:off x="5214938" y="3541514"/>
            <a:ext cx="720207" cy="211438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Call to Action</a:t>
            </a:r>
            <a:endParaRPr lang="en-US" sz="78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742950"/>
            <a:ext cx="7715250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spc="-1" kern="0" dirty="0">
                <a:solidFill>
                  <a:srgbClr val="1A1A1A"/>
                </a:solidFill>
              </a:rPr>
              <a:t>Our Company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714375" y="1394817"/>
            <a:ext cx="57150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Lorem ipsum dolor sit amet, consectetur adipiscing elit. We are a forward-thinking organization dedicated to delivering innovative business solutions that drive measurable growth and competitive advantage.</a:t>
            </a:r>
            <a:endParaRPr lang="en-US" sz="834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8" y="2117731"/>
            <a:ext cx="3214688" cy="2286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786313" y="2217744"/>
            <a:ext cx="3643313" cy="935831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Shape 3"/>
          <p:cNvSpPr/>
          <p:nvPr/>
        </p:nvSpPr>
        <p:spPr>
          <a:xfrm>
            <a:off x="4786313" y="2217744"/>
            <a:ext cx="28575" cy="935831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8" name="Text 4"/>
          <p:cNvSpPr/>
          <p:nvPr/>
        </p:nvSpPr>
        <p:spPr>
          <a:xfrm>
            <a:off x="5000625" y="2432056"/>
            <a:ext cx="321468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15+</a:t>
            </a:r>
            <a:endParaRPr lang="en-US" sz="2121" dirty="0"/>
          </a:p>
        </p:txBody>
      </p:sp>
      <p:sp>
        <p:nvSpPr>
          <p:cNvPr id="9" name="Text 5"/>
          <p:cNvSpPr/>
          <p:nvPr/>
        </p:nvSpPr>
        <p:spPr>
          <a:xfrm>
            <a:off x="5000625" y="2803531"/>
            <a:ext cx="32146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</a:rPr>
              <a:t>Years in Business</a:t>
            </a:r>
            <a:endParaRPr lang="en-US" sz="683" dirty="0"/>
          </a:p>
        </p:txBody>
      </p:sp>
      <p:sp>
        <p:nvSpPr>
          <p:cNvPr id="10" name="Shape 6"/>
          <p:cNvSpPr/>
          <p:nvPr/>
        </p:nvSpPr>
        <p:spPr>
          <a:xfrm>
            <a:off x="4786313" y="3367887"/>
            <a:ext cx="3643313" cy="935831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Shape 7"/>
          <p:cNvSpPr/>
          <p:nvPr/>
        </p:nvSpPr>
        <p:spPr>
          <a:xfrm>
            <a:off x="4786313" y="3367887"/>
            <a:ext cx="28575" cy="935831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12" name="Text 8"/>
          <p:cNvSpPr/>
          <p:nvPr/>
        </p:nvSpPr>
        <p:spPr>
          <a:xfrm>
            <a:off x="5000625" y="3582200"/>
            <a:ext cx="321468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500+</a:t>
            </a:r>
            <a:endParaRPr lang="en-US" sz="2121" dirty="0"/>
          </a:p>
        </p:txBody>
      </p:sp>
      <p:sp>
        <p:nvSpPr>
          <p:cNvPr id="13" name="Text 9"/>
          <p:cNvSpPr/>
          <p:nvPr/>
        </p:nvSpPr>
        <p:spPr>
          <a:xfrm>
            <a:off x="5000625" y="3953675"/>
            <a:ext cx="32146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</a:rPr>
              <a:t>Team Members</a:t>
            </a:r>
            <a:endParaRPr lang="en-US" sz="68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549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742950"/>
            <a:ext cx="7715250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spc="-1" kern="0" dirty="0">
                <a:solidFill>
                  <a:srgbClr val="1A1A1A"/>
                </a:solidFill>
              </a:rPr>
              <a:t>Market Overview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714375" y="1394817"/>
            <a:ext cx="77152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Industry analysis and market opportunity</a:t>
            </a:r>
            <a:endParaRPr lang="en-US" sz="834" dirty="0"/>
          </a:p>
        </p:txBody>
      </p:sp>
      <p:sp>
        <p:nvSpPr>
          <p:cNvPr id="5" name="Text 2"/>
          <p:cNvSpPr/>
          <p:nvPr/>
        </p:nvSpPr>
        <p:spPr>
          <a:xfrm>
            <a:off x="714375" y="1764506"/>
            <a:ext cx="36790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</a:rPr>
              <a:t>Market Growth Projection</a:t>
            </a:r>
            <a:endParaRPr lang="en-US" sz="683" dirty="0"/>
          </a:p>
        </p:txBody>
      </p:sp>
      <p:sp>
        <p:nvSpPr>
          <p:cNvPr id="6" name="Shape 3"/>
          <p:cNvSpPr/>
          <p:nvPr/>
        </p:nvSpPr>
        <p:spPr>
          <a:xfrm>
            <a:off x="714375" y="2007394"/>
            <a:ext cx="1113337" cy="2911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Shape 4"/>
          <p:cNvSpPr/>
          <p:nvPr/>
        </p:nvSpPr>
        <p:spPr>
          <a:xfrm>
            <a:off x="714375" y="2291358"/>
            <a:ext cx="1113337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Text 5"/>
          <p:cNvSpPr/>
          <p:nvPr/>
        </p:nvSpPr>
        <p:spPr>
          <a:xfrm>
            <a:off x="714375" y="2007394"/>
            <a:ext cx="1113337" cy="291108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Year</a:t>
            </a:r>
            <a:endParaRPr lang="en-US" sz="584" dirty="0"/>
          </a:p>
        </p:txBody>
      </p:sp>
      <p:sp>
        <p:nvSpPr>
          <p:cNvPr id="9" name="Shape 6"/>
          <p:cNvSpPr/>
          <p:nvPr/>
        </p:nvSpPr>
        <p:spPr>
          <a:xfrm>
            <a:off x="1827712" y="2007394"/>
            <a:ext cx="2565695" cy="2911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1827712" y="2291358"/>
            <a:ext cx="2565695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Text 8"/>
          <p:cNvSpPr/>
          <p:nvPr/>
        </p:nvSpPr>
        <p:spPr>
          <a:xfrm>
            <a:off x="1827712" y="2007394"/>
            <a:ext cx="2565695" cy="291108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Projected Value</a:t>
            </a:r>
            <a:endParaRPr lang="en-US" sz="584" dirty="0"/>
          </a:p>
        </p:txBody>
      </p:sp>
      <p:sp>
        <p:nvSpPr>
          <p:cNvPr id="12" name="Text 9"/>
          <p:cNvSpPr/>
          <p:nvPr/>
        </p:nvSpPr>
        <p:spPr>
          <a:xfrm>
            <a:off x="714375" y="2294930"/>
            <a:ext cx="1113337" cy="31075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2021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1827712" y="2294930"/>
            <a:ext cx="2565695" cy="31075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$2.1B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714375" y="2605683"/>
            <a:ext cx="1113337" cy="314325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2022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1827712" y="2605683"/>
            <a:ext cx="2565695" cy="314325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$2.8B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714375" y="2920008"/>
            <a:ext cx="1113337" cy="314325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2023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1827712" y="2920008"/>
            <a:ext cx="2565695" cy="314325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$3.6B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714375" y="3234333"/>
            <a:ext cx="1113337" cy="314325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2024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1827712" y="3234333"/>
            <a:ext cx="2565695" cy="314325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$4.5B</a:t>
            </a:r>
            <a:endParaRPr lang="en-US" sz="683" dirty="0"/>
          </a:p>
        </p:txBody>
      </p:sp>
      <p:sp>
        <p:nvSpPr>
          <p:cNvPr id="20" name="Shape 17"/>
          <p:cNvSpPr/>
          <p:nvPr/>
        </p:nvSpPr>
        <p:spPr>
          <a:xfrm>
            <a:off x="4750594" y="1764506"/>
            <a:ext cx="3679031" cy="939403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Shape 18"/>
          <p:cNvSpPr/>
          <p:nvPr/>
        </p:nvSpPr>
        <p:spPr>
          <a:xfrm>
            <a:off x="4750594" y="1764506"/>
            <a:ext cx="28575" cy="939403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22" name="Text 19"/>
          <p:cNvSpPr/>
          <p:nvPr/>
        </p:nvSpPr>
        <p:spPr>
          <a:xfrm>
            <a:off x="4929188" y="1943100"/>
            <a:ext cx="33218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CAGR</a:t>
            </a:r>
            <a:endParaRPr lang="en-US" sz="584" dirty="0"/>
          </a:p>
        </p:txBody>
      </p:sp>
      <p:sp>
        <p:nvSpPr>
          <p:cNvPr id="23" name="Text 20"/>
          <p:cNvSpPr/>
          <p:nvPr/>
        </p:nvSpPr>
        <p:spPr>
          <a:xfrm>
            <a:off x="4929188" y="2094905"/>
            <a:ext cx="332184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FF3B30"/>
                </a:solidFill>
              </a:rPr>
              <a:t>45%</a:t>
            </a:r>
            <a:endParaRPr lang="en-US" sz="1808" dirty="0"/>
          </a:p>
        </p:txBody>
      </p:sp>
      <p:sp>
        <p:nvSpPr>
          <p:cNvPr id="24" name="Text 21"/>
          <p:cNvSpPr/>
          <p:nvPr/>
        </p:nvSpPr>
        <p:spPr>
          <a:xfrm>
            <a:off x="4929188" y="2409230"/>
            <a:ext cx="33218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Compound Annual Growth Rate</a:t>
            </a:r>
            <a:endParaRPr lang="en-US" sz="621" dirty="0"/>
          </a:p>
        </p:txBody>
      </p:sp>
      <p:sp>
        <p:nvSpPr>
          <p:cNvPr id="25" name="Shape 22"/>
          <p:cNvSpPr/>
          <p:nvPr/>
        </p:nvSpPr>
        <p:spPr>
          <a:xfrm>
            <a:off x="4750594" y="2918222"/>
            <a:ext cx="3679031" cy="939403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6" name="Shape 23"/>
          <p:cNvSpPr/>
          <p:nvPr/>
        </p:nvSpPr>
        <p:spPr>
          <a:xfrm>
            <a:off x="4750594" y="2918222"/>
            <a:ext cx="28575" cy="939403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27" name="Text 24"/>
          <p:cNvSpPr/>
          <p:nvPr/>
        </p:nvSpPr>
        <p:spPr>
          <a:xfrm>
            <a:off x="4929188" y="3096816"/>
            <a:ext cx="33218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Total Addressable Market</a:t>
            </a:r>
            <a:endParaRPr lang="en-US" sz="584" dirty="0"/>
          </a:p>
        </p:txBody>
      </p:sp>
      <p:sp>
        <p:nvSpPr>
          <p:cNvPr id="28" name="Text 25"/>
          <p:cNvSpPr/>
          <p:nvPr/>
        </p:nvSpPr>
        <p:spPr>
          <a:xfrm>
            <a:off x="4929188" y="3248620"/>
            <a:ext cx="332184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FF3B30"/>
                </a:solidFill>
              </a:rPr>
              <a:t>$12.3B</a:t>
            </a:r>
            <a:endParaRPr lang="en-US" sz="1808" dirty="0"/>
          </a:p>
        </p:txBody>
      </p:sp>
      <p:sp>
        <p:nvSpPr>
          <p:cNvPr id="29" name="Text 26"/>
          <p:cNvSpPr/>
          <p:nvPr/>
        </p:nvSpPr>
        <p:spPr>
          <a:xfrm>
            <a:off x="4929188" y="3562945"/>
            <a:ext cx="33218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By 2025</a:t>
            </a:r>
            <a:endParaRPr lang="en-US" sz="621" dirty="0"/>
          </a:p>
        </p:txBody>
      </p:sp>
      <p:sp>
        <p:nvSpPr>
          <p:cNvPr id="30" name="Shape 27"/>
          <p:cNvSpPr/>
          <p:nvPr/>
        </p:nvSpPr>
        <p:spPr>
          <a:xfrm>
            <a:off x="714375" y="4000500"/>
            <a:ext cx="7715250" cy="114009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1" name="Text 28"/>
          <p:cNvSpPr/>
          <p:nvPr/>
        </p:nvSpPr>
        <p:spPr>
          <a:xfrm>
            <a:off x="857250" y="4143375"/>
            <a:ext cx="7429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</a:rPr>
              <a:t>Key Market Insights</a:t>
            </a:r>
            <a:endParaRPr lang="en-US" sz="683" dirty="0"/>
          </a:p>
        </p:txBody>
      </p:sp>
      <p:sp>
        <p:nvSpPr>
          <p:cNvPr id="32" name="Text 29"/>
          <p:cNvSpPr/>
          <p:nvPr/>
        </p:nvSpPr>
        <p:spPr>
          <a:xfrm>
            <a:off x="857250" y="4493419"/>
            <a:ext cx="23336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Market Demand</a:t>
            </a:r>
            <a:endParaRPr lang="en-US" sz="683" dirty="0"/>
          </a:p>
        </p:txBody>
      </p:sp>
      <p:sp>
        <p:nvSpPr>
          <p:cNvPr id="33" name="Text 30"/>
          <p:cNvSpPr/>
          <p:nvPr/>
        </p:nvSpPr>
        <p:spPr>
          <a:xfrm>
            <a:off x="857250" y="4700588"/>
            <a:ext cx="2333606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Increasing demand for digital transformation solutions across all sectors</a:t>
            </a:r>
            <a:endParaRPr lang="en-US" sz="674" dirty="0"/>
          </a:p>
        </p:txBody>
      </p:sp>
      <p:sp>
        <p:nvSpPr>
          <p:cNvPr id="34" name="Text 31"/>
          <p:cNvSpPr/>
          <p:nvPr/>
        </p:nvSpPr>
        <p:spPr>
          <a:xfrm>
            <a:off x="3405169" y="4493419"/>
            <a:ext cx="23336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Competition</a:t>
            </a:r>
            <a:endParaRPr lang="en-US" sz="683" dirty="0"/>
          </a:p>
        </p:txBody>
      </p:sp>
      <p:sp>
        <p:nvSpPr>
          <p:cNvPr id="35" name="Text 32"/>
          <p:cNvSpPr/>
          <p:nvPr/>
        </p:nvSpPr>
        <p:spPr>
          <a:xfrm>
            <a:off x="3405169" y="4700588"/>
            <a:ext cx="2333634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Fragmented market with opportunity for consolidation and differentiation</a:t>
            </a:r>
            <a:endParaRPr lang="en-US" sz="674" dirty="0"/>
          </a:p>
        </p:txBody>
      </p:sp>
      <p:sp>
        <p:nvSpPr>
          <p:cNvPr id="36" name="Text 33"/>
          <p:cNvSpPr/>
          <p:nvPr/>
        </p:nvSpPr>
        <p:spPr>
          <a:xfrm>
            <a:off x="5953116" y="4493419"/>
            <a:ext cx="23336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Opportunity</a:t>
            </a:r>
            <a:endParaRPr lang="en-US" sz="683" dirty="0"/>
          </a:p>
        </p:txBody>
      </p:sp>
      <p:sp>
        <p:nvSpPr>
          <p:cNvPr id="37" name="Text 34"/>
          <p:cNvSpPr/>
          <p:nvPr/>
        </p:nvSpPr>
        <p:spPr>
          <a:xfrm>
            <a:off x="5953116" y="4700588"/>
            <a:ext cx="2333606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Emerging markets and vertical expansion present significant growth potential</a:t>
            </a:r>
            <a:endParaRPr lang="en-US" sz="67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742950"/>
            <a:ext cx="7715250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spc="-1" kern="0" dirty="0">
                <a:solidFill>
                  <a:srgbClr val="1A1A1A"/>
                </a:solidFill>
              </a:rPr>
              <a:t>Our Products &amp; Services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714375" y="1394817"/>
            <a:ext cx="77152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Comprehensive solutions for business success</a:t>
            </a:r>
            <a:endParaRPr lang="en-US" sz="942" dirty="0"/>
          </a:p>
        </p:txBody>
      </p:sp>
      <p:sp>
        <p:nvSpPr>
          <p:cNvPr id="5" name="Text 2"/>
          <p:cNvSpPr/>
          <p:nvPr/>
        </p:nvSpPr>
        <p:spPr>
          <a:xfrm>
            <a:off x="714375" y="1998464"/>
            <a:ext cx="2381241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592" dirty="0">
                <a:solidFill>
                  <a:srgbClr val="000000"/>
                </a:solidFill>
              </a:rPr>
              <a:t>📊</a:t>
            </a:r>
            <a:endParaRPr lang="en-US" sz="2592" dirty="0"/>
          </a:p>
        </p:txBody>
      </p:sp>
      <p:sp>
        <p:nvSpPr>
          <p:cNvPr id="6" name="Text 3"/>
          <p:cNvSpPr/>
          <p:nvPr/>
        </p:nvSpPr>
        <p:spPr>
          <a:xfrm>
            <a:off x="714375" y="2569964"/>
            <a:ext cx="2381241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Analytics Platform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714375" y="2917134"/>
            <a:ext cx="238124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Advanced data analytics and business intelligence tools for informed decision-making.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714375" y="3537189"/>
            <a:ext cx="23812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Real-time dashboards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714375" y="3772932"/>
            <a:ext cx="23812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Predictive analytics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714375" y="4008676"/>
            <a:ext cx="23812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Custom reporting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3381366" y="1998464"/>
            <a:ext cx="2381241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592" dirty="0">
                <a:solidFill>
                  <a:srgbClr val="000000"/>
                </a:solidFill>
              </a:rPr>
              <a:t>🔧</a:t>
            </a:r>
            <a:endParaRPr lang="en-US" sz="2592" dirty="0"/>
          </a:p>
        </p:txBody>
      </p:sp>
      <p:sp>
        <p:nvSpPr>
          <p:cNvPr id="12" name="Text 9"/>
          <p:cNvSpPr/>
          <p:nvPr/>
        </p:nvSpPr>
        <p:spPr>
          <a:xfrm>
            <a:off x="3381366" y="2569964"/>
            <a:ext cx="2381241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Consulting Services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3381366" y="2917134"/>
            <a:ext cx="238124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Strategic consulting and implementation services to drive digital transformation.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3381366" y="3537189"/>
            <a:ext cx="23812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Strategy development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3381366" y="3772932"/>
            <a:ext cx="23812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Process optimization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3381366" y="4008676"/>
            <a:ext cx="23812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Change management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6048356" y="1998464"/>
            <a:ext cx="2381269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592" dirty="0">
                <a:solidFill>
                  <a:srgbClr val="000000"/>
                </a:solidFill>
              </a:rPr>
              <a:t>☁️</a:t>
            </a:r>
            <a:endParaRPr lang="en-US" sz="2592" dirty="0"/>
          </a:p>
        </p:txBody>
      </p:sp>
      <p:sp>
        <p:nvSpPr>
          <p:cNvPr id="18" name="Text 15"/>
          <p:cNvSpPr/>
          <p:nvPr/>
        </p:nvSpPr>
        <p:spPr>
          <a:xfrm>
            <a:off x="6048356" y="2569964"/>
            <a:ext cx="2381269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Cloud Solutions</a:t>
            </a:r>
            <a:endParaRPr lang="en-US" sz="1090" dirty="0"/>
          </a:p>
        </p:txBody>
      </p:sp>
      <p:sp>
        <p:nvSpPr>
          <p:cNvPr id="19" name="Text 16"/>
          <p:cNvSpPr/>
          <p:nvPr/>
        </p:nvSpPr>
        <p:spPr>
          <a:xfrm>
            <a:off x="6048356" y="2917134"/>
            <a:ext cx="238126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Scalable cloud infrastructure and managed services for enterprise applications.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6048356" y="3537189"/>
            <a:ext cx="23812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Infrastructure as a Service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6048356" y="3772932"/>
            <a:ext cx="23812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Platform as a Service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6048356" y="4008676"/>
            <a:ext cx="23812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24/7 Support</a:t>
            </a:r>
            <a:endParaRPr lang="en-US" sz="68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156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742950"/>
            <a:ext cx="7715250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spc="-1" kern="0" dirty="0">
                <a:solidFill>
                  <a:srgbClr val="1A1A1A"/>
                </a:solidFill>
              </a:rPr>
              <a:t>Business Strategy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714375" y="1394817"/>
            <a:ext cx="77152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Our strategic approach to market leadership</a:t>
            </a:r>
            <a:endParaRPr lang="en-US" sz="834" dirty="0"/>
          </a:p>
        </p:txBody>
      </p:sp>
      <p:sp>
        <p:nvSpPr>
          <p:cNvPr id="5" name="Shape 2"/>
          <p:cNvSpPr/>
          <p:nvPr/>
        </p:nvSpPr>
        <p:spPr>
          <a:xfrm>
            <a:off x="714375" y="1693069"/>
            <a:ext cx="3771900" cy="14398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Shape 3"/>
          <p:cNvSpPr/>
          <p:nvPr/>
        </p:nvSpPr>
        <p:spPr>
          <a:xfrm>
            <a:off x="714375" y="1693069"/>
            <a:ext cx="28575" cy="1439800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893094"/>
            <a:ext cx="33718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Market Expansion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914400" y="2175272"/>
            <a:ext cx="33718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Penetrate new geographic markets and verticals through strategic partnerships and acquisitions.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914400" y="2673883"/>
            <a:ext cx="33718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333333"/>
                </a:solidFill>
              </a:rPr>
              <a:t>Progress: 75%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914400" y="2875694"/>
            <a:ext cx="3371850" cy="5715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Shape 8"/>
          <p:cNvSpPr/>
          <p:nvPr/>
        </p:nvSpPr>
        <p:spPr>
          <a:xfrm>
            <a:off x="4657725" y="1693069"/>
            <a:ext cx="3771900" cy="14398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Shape 9"/>
          <p:cNvSpPr/>
          <p:nvPr/>
        </p:nvSpPr>
        <p:spPr>
          <a:xfrm>
            <a:off x="4657725" y="1693069"/>
            <a:ext cx="28575" cy="1439800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13" name="Text 10"/>
          <p:cNvSpPr/>
          <p:nvPr/>
        </p:nvSpPr>
        <p:spPr>
          <a:xfrm>
            <a:off x="4857750" y="1893094"/>
            <a:ext cx="33718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Product Innovation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4857750" y="2175272"/>
            <a:ext cx="33718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Invest in R&amp;D to develop next-generation products with advanced AI and machine learning capabilities.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4857750" y="2673883"/>
            <a:ext cx="33718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333333"/>
                </a:solidFill>
              </a:rPr>
              <a:t>Progress: 60%</a:t>
            </a:r>
            <a:endParaRPr lang="en-US" sz="584" dirty="0"/>
          </a:p>
        </p:txBody>
      </p:sp>
      <p:sp>
        <p:nvSpPr>
          <p:cNvPr id="16" name="Shape 13"/>
          <p:cNvSpPr/>
          <p:nvPr/>
        </p:nvSpPr>
        <p:spPr>
          <a:xfrm>
            <a:off x="4857750" y="2875694"/>
            <a:ext cx="3371850" cy="5715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Shape 14"/>
          <p:cNvSpPr/>
          <p:nvPr/>
        </p:nvSpPr>
        <p:spPr>
          <a:xfrm>
            <a:off x="714375" y="3304319"/>
            <a:ext cx="3771900" cy="14398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8" name="Shape 15"/>
          <p:cNvSpPr/>
          <p:nvPr/>
        </p:nvSpPr>
        <p:spPr>
          <a:xfrm>
            <a:off x="714375" y="3304319"/>
            <a:ext cx="28575" cy="1439800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3504344"/>
            <a:ext cx="33718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Customer Success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914400" y="3786522"/>
            <a:ext cx="33718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Build long-term relationships through exceptional service delivery and continuous value creation.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914400" y="4285134"/>
            <a:ext cx="33718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333333"/>
                </a:solidFill>
              </a:rPr>
              <a:t>Progress: 85%</a:t>
            </a:r>
            <a:endParaRPr lang="en-US" sz="584" dirty="0"/>
          </a:p>
        </p:txBody>
      </p:sp>
      <p:sp>
        <p:nvSpPr>
          <p:cNvPr id="22" name="Shape 19"/>
          <p:cNvSpPr/>
          <p:nvPr/>
        </p:nvSpPr>
        <p:spPr>
          <a:xfrm>
            <a:off x="914400" y="4486945"/>
            <a:ext cx="3371850" cy="5715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3" name="Shape 20"/>
          <p:cNvSpPr/>
          <p:nvPr/>
        </p:nvSpPr>
        <p:spPr>
          <a:xfrm>
            <a:off x="4657725" y="3304319"/>
            <a:ext cx="3771900" cy="14398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4" name="Shape 21"/>
          <p:cNvSpPr/>
          <p:nvPr/>
        </p:nvSpPr>
        <p:spPr>
          <a:xfrm>
            <a:off x="4657725" y="3304319"/>
            <a:ext cx="28575" cy="1439800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25" name="Text 22"/>
          <p:cNvSpPr/>
          <p:nvPr/>
        </p:nvSpPr>
        <p:spPr>
          <a:xfrm>
            <a:off x="4857750" y="3504344"/>
            <a:ext cx="33718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Operational Excellence</a:t>
            </a:r>
            <a:endParaRPr lang="en-US" sz="885" dirty="0"/>
          </a:p>
        </p:txBody>
      </p:sp>
      <p:sp>
        <p:nvSpPr>
          <p:cNvPr id="26" name="Text 23"/>
          <p:cNvSpPr/>
          <p:nvPr/>
        </p:nvSpPr>
        <p:spPr>
          <a:xfrm>
            <a:off x="4857750" y="3786522"/>
            <a:ext cx="33718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Optimize operations and reduce costs through automation and process improvements.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4857750" y="4285134"/>
            <a:ext cx="33718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333333"/>
                </a:solidFill>
              </a:rPr>
              <a:t>Progress: 70%</a:t>
            </a:r>
            <a:endParaRPr lang="en-US" sz="584" dirty="0"/>
          </a:p>
        </p:txBody>
      </p:sp>
      <p:sp>
        <p:nvSpPr>
          <p:cNvPr id="28" name="Shape 25"/>
          <p:cNvSpPr/>
          <p:nvPr/>
        </p:nvSpPr>
        <p:spPr>
          <a:xfrm>
            <a:off x="4857750" y="4486945"/>
            <a:ext cx="3371850" cy="57150"/>
          </a:xfrm>
          <a:prstGeom prst="rect">
            <a:avLst/>
          </a:prstGeom>
          <a:solidFill>
            <a:srgbClr val="E0E0E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342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64356"/>
            <a:ext cx="77152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1A1A1A"/>
                </a:solidFill>
              </a:rPr>
              <a:t>Financial Projections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14375" y="1101923"/>
            <a:ext cx="77152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Key metrics and growth forecasts</a:t>
            </a:r>
            <a:endParaRPr lang="en-US" sz="834" dirty="0"/>
          </a:p>
        </p:txBody>
      </p:sp>
      <p:sp>
        <p:nvSpPr>
          <p:cNvPr id="5" name="Text 2"/>
          <p:cNvSpPr/>
          <p:nvPr/>
        </p:nvSpPr>
        <p:spPr>
          <a:xfrm>
            <a:off x="714375" y="1543050"/>
            <a:ext cx="7715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1A1A1A"/>
                </a:solidFill>
              </a:rPr>
              <a:t>Revenue Forecast (in Millions)</a:t>
            </a:r>
            <a:endParaRPr lang="en-US" sz="683" dirty="0"/>
          </a:p>
        </p:txBody>
      </p:sp>
      <p:sp>
        <p:nvSpPr>
          <p:cNvPr id="6" name="Shape 3"/>
          <p:cNvSpPr/>
          <p:nvPr/>
        </p:nvSpPr>
        <p:spPr>
          <a:xfrm>
            <a:off x="714375" y="1785938"/>
            <a:ext cx="1848445" cy="659011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Shape 4"/>
          <p:cNvSpPr/>
          <p:nvPr/>
        </p:nvSpPr>
        <p:spPr>
          <a:xfrm>
            <a:off x="714375" y="1785938"/>
            <a:ext cx="21431" cy="659011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8" name="Text 5"/>
          <p:cNvSpPr/>
          <p:nvPr/>
        </p:nvSpPr>
        <p:spPr>
          <a:xfrm>
            <a:off x="857250" y="1928813"/>
            <a:ext cx="156269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$45M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857250" y="2185988"/>
            <a:ext cx="156269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2022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669977" y="1785938"/>
            <a:ext cx="1848445" cy="659011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Shape 8"/>
          <p:cNvSpPr/>
          <p:nvPr/>
        </p:nvSpPr>
        <p:spPr>
          <a:xfrm>
            <a:off x="2669977" y="1785938"/>
            <a:ext cx="21431" cy="659011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12" name="Text 9"/>
          <p:cNvSpPr/>
          <p:nvPr/>
        </p:nvSpPr>
        <p:spPr>
          <a:xfrm>
            <a:off x="2812852" y="1928813"/>
            <a:ext cx="156269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$68M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2812852" y="2185988"/>
            <a:ext cx="156269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2023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4625578" y="1785938"/>
            <a:ext cx="1848445" cy="659011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Shape 12"/>
          <p:cNvSpPr/>
          <p:nvPr/>
        </p:nvSpPr>
        <p:spPr>
          <a:xfrm>
            <a:off x="4625578" y="1785938"/>
            <a:ext cx="21431" cy="659011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16" name="Text 13"/>
          <p:cNvSpPr/>
          <p:nvPr/>
        </p:nvSpPr>
        <p:spPr>
          <a:xfrm>
            <a:off x="4768453" y="1928813"/>
            <a:ext cx="156269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$102M</a:t>
            </a:r>
            <a:endParaRPr lang="en-US" sz="1397" dirty="0"/>
          </a:p>
        </p:txBody>
      </p:sp>
      <p:sp>
        <p:nvSpPr>
          <p:cNvPr id="17" name="Text 14"/>
          <p:cNvSpPr/>
          <p:nvPr/>
        </p:nvSpPr>
        <p:spPr>
          <a:xfrm>
            <a:off x="4768453" y="2185988"/>
            <a:ext cx="156269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2024</a:t>
            </a:r>
            <a:endParaRPr lang="en-US" sz="584" dirty="0"/>
          </a:p>
        </p:txBody>
      </p:sp>
      <p:sp>
        <p:nvSpPr>
          <p:cNvPr id="18" name="Shape 15"/>
          <p:cNvSpPr/>
          <p:nvPr/>
        </p:nvSpPr>
        <p:spPr>
          <a:xfrm>
            <a:off x="6581180" y="1785938"/>
            <a:ext cx="1848445" cy="659011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" name="Shape 16"/>
          <p:cNvSpPr/>
          <p:nvPr/>
        </p:nvSpPr>
        <p:spPr>
          <a:xfrm>
            <a:off x="6581180" y="1785938"/>
            <a:ext cx="21431" cy="659011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20" name="Text 17"/>
          <p:cNvSpPr/>
          <p:nvPr/>
        </p:nvSpPr>
        <p:spPr>
          <a:xfrm>
            <a:off x="6724055" y="1928813"/>
            <a:ext cx="156269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$155M</a:t>
            </a:r>
            <a:endParaRPr lang="en-US" sz="1397" dirty="0"/>
          </a:p>
        </p:txBody>
      </p:sp>
      <p:sp>
        <p:nvSpPr>
          <p:cNvPr id="21" name="Text 18"/>
          <p:cNvSpPr/>
          <p:nvPr/>
        </p:nvSpPr>
        <p:spPr>
          <a:xfrm>
            <a:off x="6724055" y="2185988"/>
            <a:ext cx="156269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2025E</a:t>
            </a:r>
            <a:endParaRPr lang="en-US" sz="584" dirty="0"/>
          </a:p>
        </p:txBody>
      </p:sp>
      <p:sp>
        <p:nvSpPr>
          <p:cNvPr id="22" name="Text 19"/>
          <p:cNvSpPr/>
          <p:nvPr/>
        </p:nvSpPr>
        <p:spPr>
          <a:xfrm>
            <a:off x="714375" y="2659261"/>
            <a:ext cx="7715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1A1A1A"/>
                </a:solidFill>
              </a:rPr>
              <a:t>Key Financial Metrics</a:t>
            </a:r>
            <a:endParaRPr lang="en-US" sz="683" dirty="0"/>
          </a:p>
        </p:txBody>
      </p:sp>
      <p:sp>
        <p:nvSpPr>
          <p:cNvPr id="23" name="Shape 20"/>
          <p:cNvSpPr/>
          <p:nvPr/>
        </p:nvSpPr>
        <p:spPr>
          <a:xfrm>
            <a:off x="714375" y="2902148"/>
            <a:ext cx="3804047" cy="659011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4" name="Shape 21"/>
          <p:cNvSpPr/>
          <p:nvPr/>
        </p:nvSpPr>
        <p:spPr>
          <a:xfrm>
            <a:off x="714375" y="2902148"/>
            <a:ext cx="21431" cy="659011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25" name="Text 22"/>
          <p:cNvSpPr/>
          <p:nvPr/>
        </p:nvSpPr>
        <p:spPr>
          <a:xfrm>
            <a:off x="857250" y="3045023"/>
            <a:ext cx="351829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245%</a:t>
            </a:r>
            <a:endParaRPr lang="en-US" sz="1397" dirty="0"/>
          </a:p>
        </p:txBody>
      </p:sp>
      <p:sp>
        <p:nvSpPr>
          <p:cNvPr id="26" name="Text 23"/>
          <p:cNvSpPr/>
          <p:nvPr/>
        </p:nvSpPr>
        <p:spPr>
          <a:xfrm>
            <a:off x="857250" y="3302198"/>
            <a:ext cx="351829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Revenue Growth (3-Year CAGR)</a:t>
            </a:r>
            <a:endParaRPr lang="en-US" sz="584" dirty="0"/>
          </a:p>
        </p:txBody>
      </p:sp>
      <p:sp>
        <p:nvSpPr>
          <p:cNvPr id="27" name="Shape 24"/>
          <p:cNvSpPr/>
          <p:nvPr/>
        </p:nvSpPr>
        <p:spPr>
          <a:xfrm>
            <a:off x="4625578" y="2902148"/>
            <a:ext cx="3804047" cy="659011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8" name="Shape 25"/>
          <p:cNvSpPr/>
          <p:nvPr/>
        </p:nvSpPr>
        <p:spPr>
          <a:xfrm>
            <a:off x="4625578" y="2902148"/>
            <a:ext cx="21431" cy="659011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29" name="Text 26"/>
          <p:cNvSpPr/>
          <p:nvPr/>
        </p:nvSpPr>
        <p:spPr>
          <a:xfrm>
            <a:off x="4768453" y="3045023"/>
            <a:ext cx="351829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$2.1B</a:t>
            </a:r>
            <a:endParaRPr lang="en-US" sz="1397" dirty="0"/>
          </a:p>
        </p:txBody>
      </p:sp>
      <p:sp>
        <p:nvSpPr>
          <p:cNvPr id="30" name="Text 27"/>
          <p:cNvSpPr/>
          <p:nvPr/>
        </p:nvSpPr>
        <p:spPr>
          <a:xfrm>
            <a:off x="4768453" y="3302198"/>
            <a:ext cx="351829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Valuation (Series C Funding)</a:t>
            </a:r>
            <a:endParaRPr lang="en-US" sz="584" dirty="0"/>
          </a:p>
        </p:txBody>
      </p:sp>
      <p:sp>
        <p:nvSpPr>
          <p:cNvPr id="31" name="Text 28"/>
          <p:cNvSpPr/>
          <p:nvPr/>
        </p:nvSpPr>
        <p:spPr>
          <a:xfrm>
            <a:off x="714375" y="3775472"/>
            <a:ext cx="7715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1A1A1A"/>
                </a:solidFill>
              </a:rPr>
              <a:t>Key Performance Indicators</a:t>
            </a:r>
            <a:endParaRPr lang="en-US" sz="683" dirty="0"/>
          </a:p>
        </p:txBody>
      </p:sp>
      <p:sp>
        <p:nvSpPr>
          <p:cNvPr id="32" name="Shape 29"/>
          <p:cNvSpPr/>
          <p:nvPr/>
        </p:nvSpPr>
        <p:spPr>
          <a:xfrm>
            <a:off x="714375" y="4018359"/>
            <a:ext cx="1848445" cy="78723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3" name="Text 30"/>
          <p:cNvSpPr/>
          <p:nvPr/>
        </p:nvSpPr>
        <p:spPr>
          <a:xfrm>
            <a:off x="857250" y="4196953"/>
            <a:ext cx="15626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FF3B30"/>
                </a:solidFill>
              </a:rPr>
              <a:t>92%</a:t>
            </a:r>
            <a:endParaRPr lang="en-US" sz="1602" dirty="0"/>
          </a:p>
        </p:txBody>
      </p:sp>
      <p:sp>
        <p:nvSpPr>
          <p:cNvPr id="34" name="Text 31"/>
          <p:cNvSpPr/>
          <p:nvPr/>
        </p:nvSpPr>
        <p:spPr>
          <a:xfrm>
            <a:off x="857250" y="4496991"/>
            <a:ext cx="156269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Customer Retention</a:t>
            </a:r>
            <a:endParaRPr lang="en-US" sz="634" dirty="0"/>
          </a:p>
        </p:txBody>
      </p:sp>
      <p:sp>
        <p:nvSpPr>
          <p:cNvPr id="35" name="Shape 32"/>
          <p:cNvSpPr/>
          <p:nvPr/>
        </p:nvSpPr>
        <p:spPr>
          <a:xfrm>
            <a:off x="2669977" y="4018359"/>
            <a:ext cx="1848445" cy="78723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6" name="Text 33"/>
          <p:cNvSpPr/>
          <p:nvPr/>
        </p:nvSpPr>
        <p:spPr>
          <a:xfrm>
            <a:off x="2812852" y="4196953"/>
            <a:ext cx="15626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FF3B30"/>
                </a:solidFill>
              </a:rPr>
              <a:t>3.2x</a:t>
            </a:r>
            <a:endParaRPr lang="en-US" sz="1602" dirty="0"/>
          </a:p>
        </p:txBody>
      </p:sp>
      <p:sp>
        <p:nvSpPr>
          <p:cNvPr id="37" name="Text 34"/>
          <p:cNvSpPr/>
          <p:nvPr/>
        </p:nvSpPr>
        <p:spPr>
          <a:xfrm>
            <a:off x="2812852" y="4496991"/>
            <a:ext cx="156269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Magic Number (CAC Payback)</a:t>
            </a:r>
            <a:endParaRPr lang="en-US" sz="634" dirty="0"/>
          </a:p>
        </p:txBody>
      </p:sp>
      <p:sp>
        <p:nvSpPr>
          <p:cNvPr id="38" name="Shape 35"/>
          <p:cNvSpPr/>
          <p:nvPr/>
        </p:nvSpPr>
        <p:spPr>
          <a:xfrm>
            <a:off x="4625578" y="4018359"/>
            <a:ext cx="1848445" cy="78723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9" name="Text 36"/>
          <p:cNvSpPr/>
          <p:nvPr/>
        </p:nvSpPr>
        <p:spPr>
          <a:xfrm>
            <a:off x="4768453" y="4196953"/>
            <a:ext cx="15626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FF3B30"/>
                </a:solidFill>
              </a:rPr>
              <a:t>$45K</a:t>
            </a:r>
            <a:endParaRPr lang="en-US" sz="1602" dirty="0"/>
          </a:p>
        </p:txBody>
      </p:sp>
      <p:sp>
        <p:nvSpPr>
          <p:cNvPr id="40" name="Text 37"/>
          <p:cNvSpPr/>
          <p:nvPr/>
        </p:nvSpPr>
        <p:spPr>
          <a:xfrm>
            <a:off x="4768453" y="4496991"/>
            <a:ext cx="156269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Average Contract Value</a:t>
            </a:r>
            <a:endParaRPr lang="en-US" sz="634" dirty="0"/>
          </a:p>
        </p:txBody>
      </p:sp>
      <p:sp>
        <p:nvSpPr>
          <p:cNvPr id="41" name="Shape 38"/>
          <p:cNvSpPr/>
          <p:nvPr/>
        </p:nvSpPr>
        <p:spPr>
          <a:xfrm>
            <a:off x="6581180" y="4018359"/>
            <a:ext cx="1848445" cy="78723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2" name="Text 39"/>
          <p:cNvSpPr/>
          <p:nvPr/>
        </p:nvSpPr>
        <p:spPr>
          <a:xfrm>
            <a:off x="6724055" y="4196953"/>
            <a:ext cx="15626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FF3B30"/>
                </a:solidFill>
              </a:rPr>
              <a:t>38%</a:t>
            </a:r>
            <a:endParaRPr lang="en-US" sz="1602" dirty="0"/>
          </a:p>
        </p:txBody>
      </p:sp>
      <p:sp>
        <p:nvSpPr>
          <p:cNvPr id="43" name="Text 40"/>
          <p:cNvSpPr/>
          <p:nvPr/>
        </p:nvSpPr>
        <p:spPr>
          <a:xfrm>
            <a:off x="6724055" y="4496991"/>
            <a:ext cx="156269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Gross Margin</a:t>
            </a:r>
            <a:endParaRPr lang="en-US" sz="6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453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742950"/>
            <a:ext cx="7715250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spc="-1" kern="0" dirty="0">
                <a:solidFill>
                  <a:srgbClr val="1A1A1A"/>
                </a:solidFill>
              </a:rPr>
              <a:t>Leadership Team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714375" y="1394817"/>
            <a:ext cx="77152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Experienced executives driving our vision</a:t>
            </a:r>
            <a:endParaRPr lang="en-US" sz="834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8" y="1835944"/>
            <a:ext cx="3214688" cy="21431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50619" y="1835944"/>
            <a:ext cx="3479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John Smith</a:t>
            </a:r>
            <a:endParaRPr lang="en-US" sz="683" dirty="0"/>
          </a:p>
        </p:txBody>
      </p:sp>
      <p:sp>
        <p:nvSpPr>
          <p:cNvPr id="7" name="Text 3"/>
          <p:cNvSpPr/>
          <p:nvPr/>
        </p:nvSpPr>
        <p:spPr>
          <a:xfrm>
            <a:off x="4950619" y="2000250"/>
            <a:ext cx="34790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66666"/>
                </a:solidFill>
              </a:rPr>
              <a:t>Chief Executive Officer</a:t>
            </a:r>
            <a:endParaRPr lang="en-US" sz="634" dirty="0"/>
          </a:p>
        </p:txBody>
      </p:sp>
      <p:sp>
        <p:nvSpPr>
          <p:cNvPr id="8" name="Text 4"/>
          <p:cNvSpPr/>
          <p:nvPr/>
        </p:nvSpPr>
        <p:spPr>
          <a:xfrm>
            <a:off x="4950619" y="2141339"/>
            <a:ext cx="347900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20+ years in tech industry</a:t>
            </a:r>
            <a:endParaRPr lang="en-US" sz="621" dirty="0"/>
          </a:p>
        </p:txBody>
      </p:sp>
      <p:sp>
        <p:nvSpPr>
          <p:cNvPr id="9" name="Text 5"/>
          <p:cNvSpPr/>
          <p:nvPr/>
        </p:nvSpPr>
        <p:spPr>
          <a:xfrm>
            <a:off x="4950619" y="2386013"/>
            <a:ext cx="3479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Sarah Johnson</a:t>
            </a:r>
            <a:endParaRPr lang="en-US" sz="683" dirty="0"/>
          </a:p>
        </p:txBody>
      </p:sp>
      <p:sp>
        <p:nvSpPr>
          <p:cNvPr id="10" name="Text 6"/>
          <p:cNvSpPr/>
          <p:nvPr/>
        </p:nvSpPr>
        <p:spPr>
          <a:xfrm>
            <a:off x="4950619" y="2550319"/>
            <a:ext cx="34790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66666"/>
                </a:solidFill>
              </a:rPr>
              <a:t>Chief Technology Officer</a:t>
            </a:r>
            <a:endParaRPr lang="en-US" sz="634" dirty="0"/>
          </a:p>
        </p:txBody>
      </p:sp>
      <p:sp>
        <p:nvSpPr>
          <p:cNvPr id="11" name="Text 7"/>
          <p:cNvSpPr/>
          <p:nvPr/>
        </p:nvSpPr>
        <p:spPr>
          <a:xfrm>
            <a:off x="4950619" y="2691408"/>
            <a:ext cx="347900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15+ years in software development</a:t>
            </a:r>
            <a:endParaRPr lang="en-US" sz="621" dirty="0"/>
          </a:p>
        </p:txBody>
      </p:sp>
      <p:sp>
        <p:nvSpPr>
          <p:cNvPr id="12" name="Text 8"/>
          <p:cNvSpPr/>
          <p:nvPr/>
        </p:nvSpPr>
        <p:spPr>
          <a:xfrm>
            <a:off x="4950619" y="2936081"/>
            <a:ext cx="3479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Michael Chen</a:t>
            </a:r>
            <a:endParaRPr lang="en-US" sz="683" dirty="0"/>
          </a:p>
        </p:txBody>
      </p:sp>
      <p:sp>
        <p:nvSpPr>
          <p:cNvPr id="13" name="Text 9"/>
          <p:cNvSpPr/>
          <p:nvPr/>
        </p:nvSpPr>
        <p:spPr>
          <a:xfrm>
            <a:off x="4950619" y="3100388"/>
            <a:ext cx="34790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66666"/>
                </a:solidFill>
              </a:rPr>
              <a:t>Chief Financial Officer</a:t>
            </a:r>
            <a:endParaRPr lang="en-US" sz="634" dirty="0"/>
          </a:p>
        </p:txBody>
      </p:sp>
      <p:sp>
        <p:nvSpPr>
          <p:cNvPr id="14" name="Text 10"/>
          <p:cNvSpPr/>
          <p:nvPr/>
        </p:nvSpPr>
        <p:spPr>
          <a:xfrm>
            <a:off x="4950619" y="3241477"/>
            <a:ext cx="347900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18+ years in finance</a:t>
            </a:r>
            <a:endParaRPr lang="en-US" sz="621" dirty="0"/>
          </a:p>
        </p:txBody>
      </p:sp>
      <p:sp>
        <p:nvSpPr>
          <p:cNvPr id="15" name="Text 11"/>
          <p:cNvSpPr/>
          <p:nvPr/>
        </p:nvSpPr>
        <p:spPr>
          <a:xfrm>
            <a:off x="4950619" y="3486150"/>
            <a:ext cx="3479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Emily Davis</a:t>
            </a:r>
            <a:endParaRPr lang="en-US" sz="683" dirty="0"/>
          </a:p>
        </p:txBody>
      </p:sp>
      <p:sp>
        <p:nvSpPr>
          <p:cNvPr id="16" name="Text 12"/>
          <p:cNvSpPr/>
          <p:nvPr/>
        </p:nvSpPr>
        <p:spPr>
          <a:xfrm>
            <a:off x="4950619" y="3650456"/>
            <a:ext cx="34790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66666"/>
                </a:solidFill>
              </a:rPr>
              <a:t>Chief Marketing Officer</a:t>
            </a:r>
            <a:endParaRPr lang="en-US" sz="634" dirty="0"/>
          </a:p>
        </p:txBody>
      </p:sp>
      <p:sp>
        <p:nvSpPr>
          <p:cNvPr id="17" name="Text 13"/>
          <p:cNvSpPr/>
          <p:nvPr/>
        </p:nvSpPr>
        <p:spPr>
          <a:xfrm>
            <a:off x="4950619" y="3791545"/>
            <a:ext cx="347900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12+ years in marketing</a:t>
            </a:r>
            <a:endParaRPr lang="en-US" sz="621" dirty="0"/>
          </a:p>
        </p:txBody>
      </p:sp>
      <p:sp>
        <p:nvSpPr>
          <p:cNvPr id="18" name="Shape 14"/>
          <p:cNvSpPr/>
          <p:nvPr/>
        </p:nvSpPr>
        <p:spPr>
          <a:xfrm>
            <a:off x="4786313" y="4193381"/>
            <a:ext cx="1119169" cy="68044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" name="Shape 15"/>
          <p:cNvSpPr/>
          <p:nvPr/>
        </p:nvSpPr>
        <p:spPr>
          <a:xfrm>
            <a:off x="4786313" y="4193381"/>
            <a:ext cx="1119169" cy="21431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20" name="Text 16"/>
          <p:cNvSpPr/>
          <p:nvPr/>
        </p:nvSpPr>
        <p:spPr>
          <a:xfrm>
            <a:off x="4929188" y="4336256"/>
            <a:ext cx="83341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18+</a:t>
            </a:r>
            <a:endParaRPr lang="en-US" sz="1397" dirty="0"/>
          </a:p>
        </p:txBody>
      </p:sp>
      <p:sp>
        <p:nvSpPr>
          <p:cNvPr id="21" name="Text 17"/>
          <p:cNvSpPr/>
          <p:nvPr/>
        </p:nvSpPr>
        <p:spPr>
          <a:xfrm>
            <a:off x="4929188" y="4593431"/>
            <a:ext cx="8334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Avg Experience</a:t>
            </a:r>
            <a:endParaRPr lang="en-US" sz="584" dirty="0"/>
          </a:p>
        </p:txBody>
      </p:sp>
      <p:sp>
        <p:nvSpPr>
          <p:cNvPr id="22" name="Shape 18"/>
          <p:cNvSpPr/>
          <p:nvPr/>
        </p:nvSpPr>
        <p:spPr>
          <a:xfrm>
            <a:off x="6048356" y="4193381"/>
            <a:ext cx="1119197" cy="68044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Shape 19"/>
          <p:cNvSpPr/>
          <p:nvPr/>
        </p:nvSpPr>
        <p:spPr>
          <a:xfrm>
            <a:off x="6048356" y="4193381"/>
            <a:ext cx="1119197" cy="21431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24" name="Text 20"/>
          <p:cNvSpPr/>
          <p:nvPr/>
        </p:nvSpPr>
        <p:spPr>
          <a:xfrm>
            <a:off x="6191231" y="4336256"/>
            <a:ext cx="83344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500+</a:t>
            </a:r>
            <a:endParaRPr lang="en-US" sz="1397" dirty="0"/>
          </a:p>
        </p:txBody>
      </p:sp>
      <p:sp>
        <p:nvSpPr>
          <p:cNvPr id="25" name="Text 21"/>
          <p:cNvSpPr/>
          <p:nvPr/>
        </p:nvSpPr>
        <p:spPr>
          <a:xfrm>
            <a:off x="6191231" y="4593431"/>
            <a:ext cx="83344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Team Size</a:t>
            </a:r>
            <a:endParaRPr lang="en-US" sz="584" dirty="0"/>
          </a:p>
        </p:txBody>
      </p:sp>
      <p:sp>
        <p:nvSpPr>
          <p:cNvPr id="26" name="Shape 22"/>
          <p:cNvSpPr/>
          <p:nvPr/>
        </p:nvSpPr>
        <p:spPr>
          <a:xfrm>
            <a:off x="7310428" y="4193381"/>
            <a:ext cx="1119197" cy="68044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7" name="Shape 23"/>
          <p:cNvSpPr/>
          <p:nvPr/>
        </p:nvSpPr>
        <p:spPr>
          <a:xfrm>
            <a:off x="7310428" y="4193381"/>
            <a:ext cx="1119197" cy="21431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28" name="Text 24"/>
          <p:cNvSpPr/>
          <p:nvPr/>
        </p:nvSpPr>
        <p:spPr>
          <a:xfrm>
            <a:off x="7453303" y="4336256"/>
            <a:ext cx="83344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12</a:t>
            </a:r>
            <a:endParaRPr lang="en-US" sz="1397" dirty="0"/>
          </a:p>
        </p:txBody>
      </p:sp>
      <p:sp>
        <p:nvSpPr>
          <p:cNvPr id="29" name="Text 25"/>
          <p:cNvSpPr/>
          <p:nvPr/>
        </p:nvSpPr>
        <p:spPr>
          <a:xfrm>
            <a:off x="7453303" y="4593431"/>
            <a:ext cx="83344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Global Offices</a:t>
            </a:r>
            <a:endParaRPr lang="en-US" sz="58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334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685800"/>
            <a:ext cx="7715250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spc="-1" kern="0" dirty="0">
                <a:solidFill>
                  <a:srgbClr val="1A1A1A"/>
                </a:solidFill>
              </a:rPr>
              <a:t>Strategic Roadmap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714375" y="1287661"/>
            <a:ext cx="77152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Our path to market leadership</a:t>
            </a:r>
            <a:endParaRPr lang="en-US" sz="834" dirty="0"/>
          </a:p>
        </p:txBody>
      </p:sp>
      <p:sp>
        <p:nvSpPr>
          <p:cNvPr id="5" name="Shape 2"/>
          <p:cNvSpPr/>
          <p:nvPr/>
        </p:nvSpPr>
        <p:spPr>
          <a:xfrm>
            <a:off x="857250" y="1557338"/>
            <a:ext cx="21431" cy="3490392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6" name="Shape 3"/>
          <p:cNvSpPr/>
          <p:nvPr/>
        </p:nvSpPr>
        <p:spPr>
          <a:xfrm>
            <a:off x="771525" y="1600200"/>
            <a:ext cx="142875" cy="142875"/>
          </a:xfrm>
          <a:prstGeom prst="ellipse">
            <a:avLst/>
          </a:prstGeom>
          <a:solidFill>
            <a:srgbClr val="FFFFFF"/>
          </a:solidFill>
          <a:ln w="18288">
            <a:solidFill>
              <a:srgbClr val="FF3B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43000" y="1557338"/>
            <a:ext cx="72866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FF3B30"/>
                </a:solidFill>
              </a:rPr>
              <a:t>Q1 2025</a:t>
            </a:r>
            <a:endParaRPr lang="en-US" sz="584" dirty="0"/>
          </a:p>
        </p:txBody>
      </p:sp>
      <p:sp>
        <p:nvSpPr>
          <p:cNvPr id="8" name="Text 5"/>
          <p:cNvSpPr/>
          <p:nvPr/>
        </p:nvSpPr>
        <p:spPr>
          <a:xfrm>
            <a:off x="1143000" y="1701998"/>
            <a:ext cx="7286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Product Launch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1143000" y="1953816"/>
            <a:ext cx="72866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Launch next-generation platform with AI-powered features and enhanced user experience.</a:t>
            </a:r>
            <a:endParaRPr lang="en-US" sz="727" dirty="0"/>
          </a:p>
        </p:txBody>
      </p:sp>
      <p:sp>
        <p:nvSpPr>
          <p:cNvPr id="10" name="Shape 7"/>
          <p:cNvSpPr/>
          <p:nvPr/>
        </p:nvSpPr>
        <p:spPr>
          <a:xfrm>
            <a:off x="1143000" y="2170974"/>
            <a:ext cx="1305883" cy="187523"/>
          </a:xfrm>
          <a:prstGeom prst="rect">
            <a:avLst/>
          </a:prstGeom>
          <a:solidFill>
            <a:srgbClr val="FF3B30"/>
          </a:solidFill>
          <a:ln w="9144">
            <a:solidFill>
              <a:srgbClr val="FF3B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2170974"/>
            <a:ext cx="1305883" cy="187523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Product Development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506033" y="2170974"/>
            <a:ext cx="810676" cy="187523"/>
          </a:xfrm>
          <a:prstGeom prst="rect">
            <a:avLst/>
          </a:prstGeom>
          <a:solidFill>
            <a:srgbClr val="F2F2F2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06033" y="2170974"/>
            <a:ext cx="810676" cy="187523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33333"/>
                </a:solidFill>
              </a:rPr>
              <a:t>Beta Testing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3373859" y="2170974"/>
            <a:ext cx="955114" cy="187523"/>
          </a:xfrm>
          <a:prstGeom prst="rect">
            <a:avLst/>
          </a:prstGeom>
          <a:solidFill>
            <a:srgbClr val="FFFFFF"/>
          </a:solidFill>
          <a:ln w="9144">
            <a:solidFill>
              <a:srgbClr val="FF3B3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73859" y="2170974"/>
            <a:ext cx="955114" cy="187523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3B30"/>
                </a:solidFill>
              </a:rPr>
              <a:t>Market Launch</a:t>
            </a:r>
            <a:endParaRPr lang="en-US" sz="584" dirty="0"/>
          </a:p>
        </p:txBody>
      </p:sp>
      <p:sp>
        <p:nvSpPr>
          <p:cNvPr id="16" name="Shape 13"/>
          <p:cNvSpPr/>
          <p:nvPr/>
        </p:nvSpPr>
        <p:spPr>
          <a:xfrm>
            <a:off x="771525" y="2458510"/>
            <a:ext cx="142875" cy="142875"/>
          </a:xfrm>
          <a:prstGeom prst="ellipse">
            <a:avLst/>
          </a:prstGeom>
          <a:solidFill>
            <a:srgbClr val="FFFFFF"/>
          </a:solidFill>
          <a:ln w="18288">
            <a:solidFill>
              <a:srgbClr val="FF3B3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43000" y="2415648"/>
            <a:ext cx="72866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FF3B30"/>
                </a:solidFill>
              </a:rPr>
              <a:t>Q2 2025</a:t>
            </a:r>
            <a:endParaRPr lang="en-US" sz="584" dirty="0"/>
          </a:p>
        </p:txBody>
      </p:sp>
      <p:sp>
        <p:nvSpPr>
          <p:cNvPr id="18" name="Text 15"/>
          <p:cNvSpPr/>
          <p:nvPr/>
        </p:nvSpPr>
        <p:spPr>
          <a:xfrm>
            <a:off x="1143000" y="2560309"/>
            <a:ext cx="7286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Market Expansion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1143000" y="2812126"/>
            <a:ext cx="72866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Expand into 5 new geographic markets and establish regional partnerships.</a:t>
            </a:r>
            <a:endParaRPr lang="en-US" sz="727" dirty="0"/>
          </a:p>
        </p:txBody>
      </p:sp>
      <p:sp>
        <p:nvSpPr>
          <p:cNvPr id="20" name="Shape 17"/>
          <p:cNvSpPr/>
          <p:nvPr/>
        </p:nvSpPr>
        <p:spPr>
          <a:xfrm>
            <a:off x="1143000" y="3029285"/>
            <a:ext cx="1327649" cy="187523"/>
          </a:xfrm>
          <a:prstGeom prst="rect">
            <a:avLst/>
          </a:prstGeom>
          <a:solidFill>
            <a:srgbClr val="FF3B30"/>
          </a:solidFill>
          <a:ln w="9144">
            <a:solidFill>
              <a:srgbClr val="FF3B3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43000" y="3029285"/>
            <a:ext cx="1327649" cy="187523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Geographic Expansion</a:t>
            </a:r>
            <a:endParaRPr lang="en-US" sz="584" dirty="0"/>
          </a:p>
        </p:txBody>
      </p:sp>
      <p:sp>
        <p:nvSpPr>
          <p:cNvPr id="22" name="Shape 19"/>
          <p:cNvSpPr/>
          <p:nvPr/>
        </p:nvSpPr>
        <p:spPr>
          <a:xfrm>
            <a:off x="2527799" y="3029285"/>
            <a:ext cx="1492067" cy="187523"/>
          </a:xfrm>
          <a:prstGeom prst="rect">
            <a:avLst/>
          </a:prstGeom>
          <a:solidFill>
            <a:srgbClr val="F2F2F2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527799" y="3029285"/>
            <a:ext cx="1492067" cy="187523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33333"/>
                </a:solidFill>
              </a:rPr>
              <a:t>Partnership Development</a:t>
            </a:r>
            <a:endParaRPr lang="en-US" sz="584" dirty="0"/>
          </a:p>
        </p:txBody>
      </p:sp>
      <p:sp>
        <p:nvSpPr>
          <p:cNvPr id="24" name="Shape 21"/>
          <p:cNvSpPr/>
          <p:nvPr/>
        </p:nvSpPr>
        <p:spPr>
          <a:xfrm>
            <a:off x="4077016" y="3029285"/>
            <a:ext cx="877565" cy="187523"/>
          </a:xfrm>
          <a:prstGeom prst="rect">
            <a:avLst/>
          </a:prstGeom>
          <a:solidFill>
            <a:srgbClr val="FFFFFF"/>
          </a:solidFill>
          <a:ln w="9144">
            <a:solidFill>
              <a:srgbClr val="FF3B3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77016" y="3029285"/>
            <a:ext cx="877565" cy="187523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3B30"/>
                </a:solidFill>
              </a:rPr>
              <a:t>Sales Growth</a:t>
            </a:r>
            <a:endParaRPr lang="en-US" sz="584" dirty="0"/>
          </a:p>
        </p:txBody>
      </p:sp>
      <p:sp>
        <p:nvSpPr>
          <p:cNvPr id="26" name="Shape 23"/>
          <p:cNvSpPr/>
          <p:nvPr/>
        </p:nvSpPr>
        <p:spPr>
          <a:xfrm>
            <a:off x="771525" y="3316821"/>
            <a:ext cx="142875" cy="142875"/>
          </a:xfrm>
          <a:prstGeom prst="ellipse">
            <a:avLst/>
          </a:prstGeom>
          <a:solidFill>
            <a:srgbClr val="FFFFFF"/>
          </a:solidFill>
          <a:ln w="18288">
            <a:solidFill>
              <a:srgbClr val="FF3B3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43000" y="3273958"/>
            <a:ext cx="72866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FF3B30"/>
                </a:solidFill>
              </a:rPr>
              <a:t>Q3 2025</a:t>
            </a:r>
            <a:endParaRPr lang="en-US" sz="584" dirty="0"/>
          </a:p>
        </p:txBody>
      </p:sp>
      <p:sp>
        <p:nvSpPr>
          <p:cNvPr id="28" name="Text 25"/>
          <p:cNvSpPr/>
          <p:nvPr/>
        </p:nvSpPr>
        <p:spPr>
          <a:xfrm>
            <a:off x="1143000" y="3418619"/>
            <a:ext cx="7286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Strategic Acquisition</a:t>
            </a:r>
            <a:endParaRPr lang="en-US" sz="987" dirty="0"/>
          </a:p>
        </p:txBody>
      </p:sp>
      <p:sp>
        <p:nvSpPr>
          <p:cNvPr id="29" name="Text 26"/>
          <p:cNvSpPr/>
          <p:nvPr/>
        </p:nvSpPr>
        <p:spPr>
          <a:xfrm>
            <a:off x="1143000" y="3670436"/>
            <a:ext cx="72866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Acquire complementary technology company to expand product portfolio and capabilities.</a:t>
            </a:r>
            <a:endParaRPr lang="en-US" sz="727" dirty="0"/>
          </a:p>
        </p:txBody>
      </p:sp>
      <p:sp>
        <p:nvSpPr>
          <p:cNvPr id="30" name="Shape 27"/>
          <p:cNvSpPr/>
          <p:nvPr/>
        </p:nvSpPr>
        <p:spPr>
          <a:xfrm>
            <a:off x="1143000" y="3887595"/>
            <a:ext cx="828870" cy="187523"/>
          </a:xfrm>
          <a:prstGeom prst="rect">
            <a:avLst/>
          </a:prstGeom>
          <a:solidFill>
            <a:srgbClr val="FF3B30"/>
          </a:solidFill>
          <a:ln w="9144">
            <a:solidFill>
              <a:srgbClr val="FF3B3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43000" y="3887595"/>
            <a:ext cx="828870" cy="187523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M&amp;A Activity</a:t>
            </a:r>
            <a:endParaRPr lang="en-US" sz="584" dirty="0"/>
          </a:p>
        </p:txBody>
      </p:sp>
      <p:sp>
        <p:nvSpPr>
          <p:cNvPr id="32" name="Shape 29"/>
          <p:cNvSpPr/>
          <p:nvPr/>
        </p:nvSpPr>
        <p:spPr>
          <a:xfrm>
            <a:off x="2029020" y="3887595"/>
            <a:ext cx="806853" cy="187523"/>
          </a:xfrm>
          <a:prstGeom prst="rect">
            <a:avLst/>
          </a:prstGeom>
          <a:solidFill>
            <a:srgbClr val="F2F2F2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029020" y="3887595"/>
            <a:ext cx="806853" cy="187523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33333"/>
                </a:solidFill>
              </a:rPr>
              <a:t>Integration</a:t>
            </a:r>
            <a:endParaRPr lang="en-US" sz="584" dirty="0"/>
          </a:p>
        </p:txBody>
      </p:sp>
      <p:sp>
        <p:nvSpPr>
          <p:cNvPr id="34" name="Shape 31"/>
          <p:cNvSpPr/>
          <p:nvPr/>
        </p:nvSpPr>
        <p:spPr>
          <a:xfrm>
            <a:off x="2893023" y="3887595"/>
            <a:ext cx="1216475" cy="187523"/>
          </a:xfrm>
          <a:prstGeom prst="rect">
            <a:avLst/>
          </a:prstGeom>
          <a:solidFill>
            <a:srgbClr val="FFFFFF"/>
          </a:solidFill>
          <a:ln w="9144">
            <a:solidFill>
              <a:srgbClr val="FF3B3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893023" y="3887595"/>
            <a:ext cx="1216475" cy="187523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3B30"/>
                </a:solidFill>
              </a:rPr>
              <a:t>Synergy Realization</a:t>
            </a:r>
            <a:endParaRPr lang="en-US" sz="584" dirty="0"/>
          </a:p>
        </p:txBody>
      </p:sp>
      <p:sp>
        <p:nvSpPr>
          <p:cNvPr id="36" name="Shape 33"/>
          <p:cNvSpPr/>
          <p:nvPr/>
        </p:nvSpPr>
        <p:spPr>
          <a:xfrm>
            <a:off x="771525" y="4175131"/>
            <a:ext cx="142875" cy="142875"/>
          </a:xfrm>
          <a:prstGeom prst="ellipse">
            <a:avLst/>
          </a:prstGeom>
          <a:solidFill>
            <a:srgbClr val="FFFFFF"/>
          </a:solidFill>
          <a:ln w="18288">
            <a:solidFill>
              <a:srgbClr val="FF3B3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143000" y="4132269"/>
            <a:ext cx="72866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FF3B30"/>
                </a:solidFill>
              </a:rPr>
              <a:t>Q4 2025</a:t>
            </a:r>
            <a:endParaRPr lang="en-US" sz="584" dirty="0"/>
          </a:p>
        </p:txBody>
      </p:sp>
      <p:sp>
        <p:nvSpPr>
          <p:cNvPr id="38" name="Text 35"/>
          <p:cNvSpPr/>
          <p:nvPr/>
        </p:nvSpPr>
        <p:spPr>
          <a:xfrm>
            <a:off x="1143000" y="4276930"/>
            <a:ext cx="7286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IPO Preparation</a:t>
            </a:r>
            <a:endParaRPr lang="en-US" sz="987" dirty="0"/>
          </a:p>
        </p:txBody>
      </p:sp>
      <p:sp>
        <p:nvSpPr>
          <p:cNvPr id="39" name="Text 36"/>
          <p:cNvSpPr/>
          <p:nvPr/>
        </p:nvSpPr>
        <p:spPr>
          <a:xfrm>
            <a:off x="1143000" y="4528747"/>
            <a:ext cx="72866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Prepare for public market listing and achieve unicorn valuation milestone.</a:t>
            </a:r>
            <a:endParaRPr lang="en-US" sz="727" dirty="0"/>
          </a:p>
        </p:txBody>
      </p:sp>
      <p:sp>
        <p:nvSpPr>
          <p:cNvPr id="40" name="Shape 37"/>
          <p:cNvSpPr/>
          <p:nvPr/>
        </p:nvSpPr>
        <p:spPr>
          <a:xfrm>
            <a:off x="1143000" y="4745906"/>
            <a:ext cx="1392836" cy="187523"/>
          </a:xfrm>
          <a:prstGeom prst="rect">
            <a:avLst/>
          </a:prstGeom>
          <a:solidFill>
            <a:srgbClr val="FF3B30"/>
          </a:solidFill>
          <a:ln w="9144">
            <a:solidFill>
              <a:srgbClr val="FF3B3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143000" y="4745906"/>
            <a:ext cx="1392836" cy="187523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Regulatory Compliance</a:t>
            </a:r>
            <a:endParaRPr lang="en-US" sz="584" dirty="0"/>
          </a:p>
        </p:txBody>
      </p:sp>
      <p:sp>
        <p:nvSpPr>
          <p:cNvPr id="42" name="Shape 39"/>
          <p:cNvSpPr/>
          <p:nvPr/>
        </p:nvSpPr>
        <p:spPr>
          <a:xfrm>
            <a:off x="2592986" y="4745906"/>
            <a:ext cx="988991" cy="187523"/>
          </a:xfrm>
          <a:prstGeom prst="rect">
            <a:avLst/>
          </a:prstGeom>
          <a:solidFill>
            <a:srgbClr val="F2F2F2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592986" y="4745906"/>
            <a:ext cx="988991" cy="187523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33333"/>
                </a:solidFill>
              </a:rPr>
              <a:t>Financial Audit</a:t>
            </a:r>
            <a:endParaRPr lang="en-US" sz="584" dirty="0"/>
          </a:p>
        </p:txBody>
      </p:sp>
      <p:sp>
        <p:nvSpPr>
          <p:cNvPr id="44" name="Shape 41"/>
          <p:cNvSpPr/>
          <p:nvPr/>
        </p:nvSpPr>
        <p:spPr>
          <a:xfrm>
            <a:off x="3639127" y="4745906"/>
            <a:ext cx="752187" cy="187523"/>
          </a:xfrm>
          <a:prstGeom prst="rect">
            <a:avLst/>
          </a:prstGeom>
          <a:solidFill>
            <a:srgbClr val="FFFFFF"/>
          </a:solidFill>
          <a:ln w="9144">
            <a:solidFill>
              <a:srgbClr val="FF3B3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639127" y="4745906"/>
            <a:ext cx="752187" cy="187523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3B30"/>
                </a:solidFill>
              </a:rPr>
              <a:t>IPO Launch</a:t>
            </a:r>
            <a:endParaRPr lang="en-US" sz="58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43847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44" y="1478924"/>
            <a:ext cx="3000375" cy="2286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86313" y="885825"/>
            <a:ext cx="3643313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spc="-1" kern="0" dirty="0">
                <a:solidFill>
                  <a:srgbClr val="1A1A1A"/>
                </a:solidFill>
              </a:rPr>
              <a:t>Let's Partner Together</a:t>
            </a:r>
            <a:endParaRPr lang="en-US" sz="2862" dirty="0"/>
          </a:p>
        </p:txBody>
      </p:sp>
      <p:sp>
        <p:nvSpPr>
          <p:cNvPr id="5" name="Text 1"/>
          <p:cNvSpPr/>
          <p:nvPr/>
        </p:nvSpPr>
        <p:spPr>
          <a:xfrm>
            <a:off x="4786313" y="2131684"/>
            <a:ext cx="3643313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Join us in transforming the future of business through innovation and strategic excellence</a:t>
            </a:r>
            <a:endParaRPr lang="en-US" sz="834" dirty="0"/>
          </a:p>
        </p:txBody>
      </p:sp>
      <p:sp>
        <p:nvSpPr>
          <p:cNvPr id="6" name="Shape 2"/>
          <p:cNvSpPr/>
          <p:nvPr/>
        </p:nvSpPr>
        <p:spPr>
          <a:xfrm>
            <a:off x="4786313" y="2806043"/>
            <a:ext cx="1750219" cy="614363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Shape 3"/>
          <p:cNvSpPr/>
          <p:nvPr/>
        </p:nvSpPr>
        <p:spPr>
          <a:xfrm>
            <a:off x="4786313" y="2806043"/>
            <a:ext cx="28575" cy="614363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8" name="Text 4"/>
          <p:cNvSpPr/>
          <p:nvPr/>
        </p:nvSpPr>
        <p:spPr>
          <a:xfrm>
            <a:off x="4929188" y="2948918"/>
            <a:ext cx="146446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666666"/>
                </a:solidFill>
              </a:rPr>
              <a:t>Email</a:t>
            </a:r>
            <a:endParaRPr lang="en-US" sz="584" dirty="0"/>
          </a:p>
        </p:txBody>
      </p:sp>
      <p:sp>
        <p:nvSpPr>
          <p:cNvPr id="9" name="Text 5"/>
          <p:cNvSpPr/>
          <p:nvPr/>
        </p:nvSpPr>
        <p:spPr>
          <a:xfrm>
            <a:off x="4929188" y="3122154"/>
            <a:ext cx="14644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hello@innovatecorp.com</a:t>
            </a:r>
            <a:endParaRPr lang="en-US" sz="784" dirty="0"/>
          </a:p>
        </p:txBody>
      </p:sp>
      <p:sp>
        <p:nvSpPr>
          <p:cNvPr id="10" name="Shape 6"/>
          <p:cNvSpPr/>
          <p:nvPr/>
        </p:nvSpPr>
        <p:spPr>
          <a:xfrm>
            <a:off x="6679406" y="2806043"/>
            <a:ext cx="1750219" cy="614363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Shape 7"/>
          <p:cNvSpPr/>
          <p:nvPr/>
        </p:nvSpPr>
        <p:spPr>
          <a:xfrm>
            <a:off x="6679406" y="2806043"/>
            <a:ext cx="28575" cy="614363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12" name="Text 8"/>
          <p:cNvSpPr/>
          <p:nvPr/>
        </p:nvSpPr>
        <p:spPr>
          <a:xfrm>
            <a:off x="6822281" y="2948918"/>
            <a:ext cx="146446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666666"/>
                </a:solidFill>
              </a:rPr>
              <a:t>Phone</a:t>
            </a:r>
            <a:endParaRPr lang="en-US" sz="584" dirty="0"/>
          </a:p>
        </p:txBody>
      </p:sp>
      <p:sp>
        <p:nvSpPr>
          <p:cNvPr id="13" name="Text 9"/>
          <p:cNvSpPr/>
          <p:nvPr/>
        </p:nvSpPr>
        <p:spPr>
          <a:xfrm>
            <a:off x="6822281" y="3122154"/>
            <a:ext cx="14644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+1 (555) 123-4567</a:t>
            </a:r>
            <a:endParaRPr lang="en-US" sz="784" dirty="0"/>
          </a:p>
        </p:txBody>
      </p:sp>
      <p:sp>
        <p:nvSpPr>
          <p:cNvPr id="14" name="Shape 10"/>
          <p:cNvSpPr/>
          <p:nvPr/>
        </p:nvSpPr>
        <p:spPr>
          <a:xfrm>
            <a:off x="4786313" y="3563280"/>
            <a:ext cx="1750219" cy="614363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Shape 11"/>
          <p:cNvSpPr/>
          <p:nvPr/>
        </p:nvSpPr>
        <p:spPr>
          <a:xfrm>
            <a:off x="4786313" y="3563280"/>
            <a:ext cx="28575" cy="614363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16" name="Text 12"/>
          <p:cNvSpPr/>
          <p:nvPr/>
        </p:nvSpPr>
        <p:spPr>
          <a:xfrm>
            <a:off x="4929188" y="3706155"/>
            <a:ext cx="146446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666666"/>
                </a:solidFill>
              </a:rPr>
              <a:t>Website</a:t>
            </a:r>
            <a:endParaRPr lang="en-US" sz="584" dirty="0"/>
          </a:p>
        </p:txBody>
      </p:sp>
      <p:sp>
        <p:nvSpPr>
          <p:cNvPr id="17" name="Text 13"/>
          <p:cNvSpPr/>
          <p:nvPr/>
        </p:nvSpPr>
        <p:spPr>
          <a:xfrm>
            <a:off x="4929188" y="3879391"/>
            <a:ext cx="14644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www.innovatecorp.com</a:t>
            </a:r>
            <a:endParaRPr lang="en-US" sz="784" dirty="0"/>
          </a:p>
        </p:txBody>
      </p:sp>
      <p:sp>
        <p:nvSpPr>
          <p:cNvPr id="18" name="Text 14"/>
          <p:cNvSpPr/>
          <p:nvPr/>
        </p:nvSpPr>
        <p:spPr>
          <a:xfrm>
            <a:off x="4786313" y="4463393"/>
            <a:ext cx="3643313" cy="208955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999999"/>
                </a:solidFill>
              </a:rPr>
              <a:t>© 2024 InnovateCorp. All rights reserved.</a:t>
            </a:r>
            <a:endParaRPr lang="en-US" sz="62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2025-12-01T11:51:49Z</dcterms:created>
  <dcterms:modified xsi:type="dcterms:W3CDTF">2025-12-01T11:51:49Z</dcterms:modified>
</cp:coreProperties>
</file>